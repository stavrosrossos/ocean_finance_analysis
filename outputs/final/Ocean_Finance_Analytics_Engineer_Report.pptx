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619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D75"/>
          </a:solidFill>
          <a:ln w="12700">
            <a:solidFill>
              <a:srgbClr val="0F5D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PANEL REVIEW  |  ANALYTICS ENGINEER EXERCISE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654710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supplied quote + sales data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0"/>
          </a:xfrm>
          <a:prstGeom prst="line">
            <a:avLst/>
          </a:prstGeom>
          <a:noFill/>
          <a:ln w="10160">
            <a:solidFill>
              <a:srgbClr val="D9E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29 attracts the most traffic but monetises materially worse than the panel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customer appeal combined with weak downstream economics makes Card 29 the clearest intervention candidate.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62672" y="1527048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FFF2CC"/>
          </a:solidFill>
          <a:ln w="1143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90688" y="1618488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29 CLICKS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790688" y="1819656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90688" y="2185416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in the panel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9710928" y="1527048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143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38944" y="1618488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→ SALE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9838944" y="1819656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38944" y="2185416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29 conversion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7662672" y="2587752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FFF2CC"/>
          </a:solidFill>
          <a:ln w="1143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90688" y="267919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/ CLICK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7790688" y="28803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£6.96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90688" y="3246120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29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9710928" y="2587752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EAF4F8"/>
          </a:solidFill>
          <a:ln w="1143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38944" y="267919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RPC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38944" y="28803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5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£11.32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38944" y="3246120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benchmark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7662672" y="3739896"/>
            <a:ext cx="3922776" cy="1097280"/>
          </a:xfrm>
          <a:prstGeom prst="roundRect">
            <a:avLst/>
          </a:prstGeom>
          <a:solidFill>
            <a:srgbClr val="EAF4F8"/>
          </a:solidFill>
          <a:ln w="11430">
            <a:solidFill>
              <a:srgbClr val="D9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45552" y="386791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5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Same-application evidence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45552" y="4142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5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2.38×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Card 30 click rate</a:t>
            </a:r>
            <a:r>
              <a:rPr lang="en-US" sz="12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200" b="1" dirty="0">
                <a:solidFill>
                  <a:srgbClr val="0F5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4.81×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Card 31 click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45552" y="44622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29 also has the lower APR in 100% of these co-offers.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7662672" y="5020056"/>
            <a:ext cx="3922776" cy="804672"/>
          </a:xfrm>
          <a:prstGeom prst="roundRect">
            <a:avLst/>
          </a:prstGeom>
          <a:solidFill>
            <a:srgbClr val="FFF2CC"/>
          </a:solidFill>
          <a:ln w="10160">
            <a:solidFill>
              <a:srgbClr val="E6D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45552" y="51389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45552" y="535838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29 is attractive to customers but weak downstream — creating a plausible diversion risk.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02920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5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intervene on Card 29 first, but removal needs a counterfactual test.</a:t>
            </a:r>
            <a:endParaRPr lang="en-US" sz="12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B4D96AB-0D79-0C12-E615-7E32E1829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30475"/>
            <a:ext cx="6912864" cy="43942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Card 29 could improve revenue, but the result is highly sensitive to customer redistribution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data identify the problem card; the unobserved post-removal customer response determines whether removing it creates value.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79792" y="1527048"/>
            <a:ext cx="4114800" cy="1234440"/>
          </a:xfrm>
          <a:prstGeom prst="roundRect">
            <a:avLst/>
          </a:prstGeom>
          <a:solidFill>
            <a:srgbClr val="F3F4F6"/>
          </a:solidFill>
          <a:ln w="1016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0960" y="166420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Upper-bound replacement case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680960" y="192024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315 Card 29 clickers with an alternative are assumed to transfer to the strongest remaining offer.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7680960" y="2340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5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+£1,408 revenue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79792" y="2907792"/>
            <a:ext cx="4114800" cy="1444752"/>
          </a:xfrm>
          <a:prstGeom prst="roundRect">
            <a:avLst/>
          </a:prstGeom>
          <a:solidFill>
            <a:srgbClr val="EAF4F8"/>
          </a:solidFill>
          <a:ln w="10160">
            <a:solidFill>
              <a:srgbClr val="D9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80960" y="304495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F5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Empirically anchored case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7680960" y="3291840"/>
            <a:ext cx="3639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248 clickers who also saw Cards 30 + 31, redistribution uses observed behaviour from comparable applications where Card 29 was absent. The remaining 67 eligible clickers are stress-tested from 0–100% transfer.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680960" y="400507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7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100% remaining-group transfer: +£161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479792" y="4517136"/>
            <a:ext cx="4114800" cy="1143000"/>
          </a:xfrm>
          <a:prstGeom prst="roundRect">
            <a:avLst/>
          </a:prstGeom>
          <a:solidFill>
            <a:srgbClr val="FFF2CC"/>
          </a:solidFill>
          <a:ln w="10160">
            <a:solidFill>
              <a:srgbClr val="E6D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0" y="466344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80.8%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87968" y="46634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remaining-group transfer required for revenue break-even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680960" y="5175504"/>
            <a:ext cx="3630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removal case is therefore not robust enough to justify a permanent change from observational data alone.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02920" y="5833872"/>
            <a:ext cx="11091672" cy="493776"/>
          </a:xfrm>
          <a:prstGeom prst="roundRect">
            <a:avLst/>
          </a:prstGeom>
          <a:solidFill>
            <a:srgbClr val="E8F5E9"/>
          </a:solidFill>
          <a:ln w="10160">
            <a:solidFill>
              <a:srgbClr val="C9E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" y="594360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7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controlled Card 29 removal / deprioritisation test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5669280" y="5943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KPI: revenue / application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59436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7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sales / app • clickout • conversion • redistribution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502920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outputs are modelled counterfactuals, not causal estimates.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851D0D6E-5E16-AF94-771A-CE24F8FFFB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857" y="1371600"/>
            <a:ext cx="7224066" cy="42611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292</Words>
  <Application>Microsoft Macintosh PowerPoint</Application>
  <PresentationFormat>Widescreen</PresentationFormat>
  <Paragraphs>39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Ocean Finance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Panel Performance Review</dc:title>
  <dc:subject>Ocean Finance Analytics Engineer exercise</dc:subject>
  <dc:creator>Stavros Rossos</dc:creator>
  <cp:lastModifiedBy>STAVROS ROSSOS</cp:lastModifiedBy>
  <cp:revision>4</cp:revision>
  <dcterms:created xsi:type="dcterms:W3CDTF">2026-09-06T06:00:29Z</dcterms:created>
  <dcterms:modified xsi:type="dcterms:W3CDTF">2026-09-06T07:15:01Z</dcterms:modified>
</cp:coreProperties>
</file>