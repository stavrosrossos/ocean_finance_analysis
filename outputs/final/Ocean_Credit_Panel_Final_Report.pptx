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Click → sale</c:v>
                </c:pt>
              </c:strCache>
            </c:strRef>
          </c:tx>
          <c:spPr>
            <a:solidFill>
              <a:srgbClr val="2F7E9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Card 29</c:v>
                  </c:pt>
                  <c:pt idx="1">
                    <c:v>Panel</c:v>
                  </c:pt>
                  <c:pt idx="2">
                    <c:v>Card 30</c:v>
                  </c:pt>
                  <c:pt idx="3">
                    <c:v>Card 31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15.8291</c:v>
                </c:pt>
                <c:pt idx="1">
                  <c:v>29.7907</c:v>
                </c:pt>
                <c:pt idx="2">
                  <c:v>31.6726</c:v>
                </c:pt>
                <c:pt idx="3">
                  <c:v>26.25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 retained sales</c:v>
                </c:pt>
              </c:strCache>
            </c:strRef>
          </c:tx>
          <c:spPr>
            <a:solidFill>
              <a:srgbClr val="8B5E00"/>
            </a:solidFill>
            <a:ln w="25400" cap="flat">
              <a:solidFill>
                <a:srgbClr val="8B5E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5E00"/>
              </a:solidFill>
              <a:ln w="9525" cap="flat">
                <a:solidFill>
                  <a:srgbClr val="8B5E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  <c:pt idx="6">
                    <c:v>60%</c:v>
                  </c:pt>
                  <c:pt idx="7">
                    <c:v>70%</c:v>
                  </c:pt>
                  <c:pt idx="8">
                    <c:v>80%</c:v>
                  </c:pt>
                  <c:pt idx="9">
                    <c:v>90%</c:v>
                  </c:pt>
                  <c:pt idx="10">
                    <c:v>100%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-628.36</c:v>
                </c:pt>
                <c:pt idx="1">
                  <c:v>-588.66</c:v>
                </c:pt>
                <c:pt idx="2">
                  <c:v>-548.95</c:v>
                </c:pt>
                <c:pt idx="3">
                  <c:v>-509.24</c:v>
                </c:pt>
                <c:pt idx="4">
                  <c:v>-469.54</c:v>
                </c:pt>
                <c:pt idx="5">
                  <c:v>-429.83</c:v>
                </c:pt>
                <c:pt idx="6">
                  <c:v>-390.12</c:v>
                </c:pt>
                <c:pt idx="7">
                  <c:v>-350.42</c:v>
                </c:pt>
                <c:pt idx="8">
                  <c:v>-310.71</c:v>
                </c:pt>
                <c:pt idx="9">
                  <c:v>-271.01</c:v>
                </c:pt>
                <c:pt idx="10">
                  <c:v>-231.3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 retained sales</c:v>
                </c:pt>
              </c:strCache>
            </c:strRef>
          </c:tx>
          <c:spPr>
            <a:solidFill>
              <a:srgbClr val="4B5563"/>
            </a:solidFill>
            <a:ln w="25400" cap="flat">
              <a:solidFill>
                <a:srgbClr val="4B55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  <c:pt idx="6">
                    <c:v>60%</c:v>
                  </c:pt>
                  <c:pt idx="7">
                    <c:v>70%</c:v>
                  </c:pt>
                  <c:pt idx="8">
                    <c:v>80%</c:v>
                  </c:pt>
                  <c:pt idx="9">
                    <c:v>90%</c:v>
                  </c:pt>
                  <c:pt idx="10">
                    <c:v>100%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-188.36</c:v>
                </c:pt>
                <c:pt idx="1">
                  <c:v>-148.66</c:v>
                </c:pt>
                <c:pt idx="2">
                  <c:v>-108.95</c:v>
                </c:pt>
                <c:pt idx="3">
                  <c:v>-69.24</c:v>
                </c:pt>
                <c:pt idx="4">
                  <c:v>-29.54</c:v>
                </c:pt>
                <c:pt idx="5">
                  <c:v>10.17</c:v>
                </c:pt>
                <c:pt idx="6">
                  <c:v>49.88</c:v>
                </c:pt>
                <c:pt idx="7">
                  <c:v>89.58</c:v>
                </c:pt>
                <c:pt idx="8">
                  <c:v>129.29</c:v>
                </c:pt>
                <c:pt idx="9">
                  <c:v>168.99</c:v>
                </c:pt>
                <c:pt idx="10">
                  <c:v>208.7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13 retained sales</c:v>
                </c:pt>
              </c:strCache>
            </c:strRef>
          </c:tx>
          <c:spPr>
            <a:solidFill>
              <a:srgbClr val="C79618"/>
            </a:solidFill>
            <a:ln w="25400" cap="flat">
              <a:solidFill>
                <a:srgbClr val="C7961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79618"/>
              </a:solidFill>
              <a:ln w="9525" cap="flat">
                <a:solidFill>
                  <a:srgbClr val="C7961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  <c:pt idx="6">
                    <c:v>60%</c:v>
                  </c:pt>
                  <c:pt idx="7">
                    <c:v>70%</c:v>
                  </c:pt>
                  <c:pt idx="8">
                    <c:v>80%</c:v>
                  </c:pt>
                  <c:pt idx="9">
                    <c:v>90%</c:v>
                  </c:pt>
                  <c:pt idx="10">
                    <c:v>100%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-56.36</c:v>
                </c:pt>
                <c:pt idx="1">
                  <c:v>-16.66</c:v>
                </c:pt>
                <c:pt idx="2">
                  <c:v>23.05</c:v>
                </c:pt>
                <c:pt idx="3">
                  <c:v>62.76</c:v>
                </c:pt>
                <c:pt idx="4">
                  <c:v>102.46</c:v>
                </c:pt>
                <c:pt idx="5">
                  <c:v>142.17</c:v>
                </c:pt>
                <c:pt idx="6">
                  <c:v>181.88</c:v>
                </c:pt>
                <c:pt idx="7">
                  <c:v>221.58</c:v>
                </c:pt>
                <c:pt idx="8">
                  <c:v>261.29</c:v>
                </c:pt>
                <c:pt idx="9">
                  <c:v>300.99</c:v>
                </c:pt>
                <c:pt idx="10">
                  <c:v>340.7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15 retained sales</c:v>
                </c:pt>
              </c:strCache>
            </c:strRef>
          </c:tx>
          <c:spPr>
            <a:solidFill>
              <a:srgbClr val="2E7D32"/>
            </a:solidFill>
            <a:ln w="2540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  <c:pt idx="6">
                    <c:v>60%</c:v>
                  </c:pt>
                  <c:pt idx="7">
                    <c:v>70%</c:v>
                  </c:pt>
                  <c:pt idx="8">
                    <c:v>80%</c:v>
                  </c:pt>
                  <c:pt idx="9">
                    <c:v>90%</c:v>
                  </c:pt>
                  <c:pt idx="10">
                    <c:v>100%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31.64</c:v>
                </c:pt>
                <c:pt idx="1">
                  <c:v>71.34</c:v>
                </c:pt>
                <c:pt idx="2">
                  <c:v>111.05</c:v>
                </c:pt>
                <c:pt idx="3">
                  <c:v>150.76</c:v>
                </c:pt>
                <c:pt idx="4">
                  <c:v>190.46</c:v>
                </c:pt>
                <c:pt idx="5">
                  <c:v>230.17</c:v>
                </c:pt>
                <c:pt idx="6">
                  <c:v>269.88</c:v>
                </c:pt>
                <c:pt idx="7">
                  <c:v>309.58</c:v>
                </c:pt>
                <c:pt idx="8">
                  <c:v>349.29</c:v>
                </c:pt>
                <c:pt idx="9">
                  <c:v>388.99</c:v>
                </c:pt>
                <c:pt idx="10">
                  <c:v>428.7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Break-even</c:v>
                </c:pt>
              </c:strCache>
            </c:strRef>
          </c:tx>
          <c:spPr>
            <a:solidFill>
              <a:srgbClr val="9CA3AF"/>
            </a:solidFill>
            <a:ln w="25400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  <c:pt idx="6">
                    <c:v>60%</c:v>
                  </c:pt>
                  <c:pt idx="7">
                    <c:v>70%</c:v>
                  </c:pt>
                  <c:pt idx="8">
                    <c:v>80%</c:v>
                  </c:pt>
                  <c:pt idx="9">
                    <c:v>90%</c:v>
                  </c:pt>
                  <c:pt idx="10">
                    <c:v>100%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"/>
          <c:min val="-70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PORT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D75"/>
          </a:solidFill>
          <a:ln w="12700">
            <a:solidFill>
              <a:srgbClr val="0F5D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Card Panel Performance Review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635240" y="651052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Modelled counterfactual — not causal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1645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1645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5D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 29 is the clearest intervention candidate: 398 clicks produce only 63 sales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captures 21.4% of panel clicks but converts at 15.8% vs 29.8% panel overall, and earns £6.96/click vs £11.32 across the panel.</a:t>
            </a:r>
            <a:endParaRPr lang="en-US" sz="103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2240280" cy="960120"/>
          </a:xfrm>
          <a:prstGeom prst="roundRect">
            <a:avLst>
              <a:gd name="adj" fmla="val 5714"/>
            </a:avLst>
          </a:prstGeom>
          <a:solidFill>
            <a:srgbClr val="FFF2CC"/>
          </a:solidFill>
          <a:ln w="10160">
            <a:solidFill>
              <a:srgbClr val="D5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43584"/>
            <a:ext cx="54864" cy="960120"/>
          </a:xfrm>
          <a:prstGeom prst="rect">
            <a:avLst/>
          </a:prstGeom>
          <a:solidFill>
            <a:srgbClr val="C79618"/>
          </a:solidFill>
          <a:ln w="12700">
            <a:solidFill>
              <a:srgbClr val="C796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533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5F6B76"/>
                </a:solidFill>
              </a:rPr>
              <a:t>CARD 29 CLICK VOLUME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667512" y="1554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398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7512" y="19110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F6B76"/>
                </a:solidFill>
              </a:rPr>
              <a:t>398 / 1,863 panel clicks = 21.4%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2240280" cy="960120"/>
          </a:xfrm>
          <a:prstGeom prst="roundRect">
            <a:avLst>
              <a:gd name="adj" fmla="val 5714"/>
            </a:avLst>
          </a:prstGeom>
          <a:solidFill>
            <a:srgbClr val="FCE8E8"/>
          </a:solidFill>
          <a:ln w="10160">
            <a:solidFill>
              <a:srgbClr val="D5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243584"/>
            <a:ext cx="54864" cy="960120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13533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5F6B76"/>
                </a:solidFill>
              </a:rPr>
              <a:t>CLICK → SALE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3090672" y="1554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</a:rPr>
              <a:t>15.8%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90672" y="19110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F6B76"/>
                </a:solidFill>
              </a:rPr>
              <a:t>63 / 398 | panel = 29.8%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49240" y="1243584"/>
            <a:ext cx="2240280" cy="960120"/>
          </a:xfrm>
          <a:prstGeom prst="roundRect">
            <a:avLst>
              <a:gd name="adj" fmla="val 5714"/>
            </a:avLst>
          </a:prstGeom>
          <a:solidFill>
            <a:srgbClr val="FCE8E8"/>
          </a:solidFill>
          <a:ln w="10160">
            <a:solidFill>
              <a:srgbClr val="D5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1243584"/>
            <a:ext cx="54864" cy="960120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13533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5F6B76"/>
                </a:solidFill>
              </a:rPr>
              <a:t>REVENUE / CLICK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5513832" y="1554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</a:rPr>
              <a:t>£6.96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13832" y="19110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F6B76"/>
                </a:solidFill>
              </a:rPr>
              <a:t>panel = £11.32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772400" y="1243584"/>
            <a:ext cx="2240280" cy="960120"/>
          </a:xfrm>
          <a:prstGeom prst="roundRect">
            <a:avLst>
              <a:gd name="adj" fmla="val 5714"/>
            </a:avLst>
          </a:prstGeom>
          <a:solidFill>
            <a:srgbClr val="D9EAF2"/>
          </a:solidFill>
          <a:ln w="10160">
            <a:solidFill>
              <a:srgbClr val="D5DE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1243584"/>
            <a:ext cx="54864" cy="960120"/>
          </a:xfrm>
          <a:prstGeom prst="rect">
            <a:avLst/>
          </a:prstGeom>
          <a:solidFill>
            <a:srgbClr val="0F5D75"/>
          </a:solidFill>
          <a:ln w="12700">
            <a:solidFill>
              <a:srgbClr val="0F5D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36992" y="13533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5F6B76"/>
                </a:solidFill>
              </a:rPr>
              <a:t>CARD 30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936992" y="1554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31.7%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936992" y="19110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F6B76"/>
                </a:solidFill>
              </a:rPr>
              <a:t>89 / 281 sales | £13.94/click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195560" y="1243584"/>
            <a:ext cx="1490472" cy="960120"/>
          </a:xfrm>
          <a:prstGeom prst="roundRect">
            <a:avLst>
              <a:gd name="adj" fmla="val 5714"/>
            </a:avLst>
          </a:prstGeom>
          <a:solidFill>
            <a:srgbClr val="D9EAF2"/>
          </a:solidFill>
          <a:ln w="10160">
            <a:solidFill>
              <a:srgbClr val="D5DE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95560" y="1243584"/>
            <a:ext cx="54864" cy="960120"/>
          </a:xfrm>
          <a:prstGeom prst="rect">
            <a:avLst/>
          </a:prstGeom>
          <a:solidFill>
            <a:srgbClr val="0F5D75"/>
          </a:solidFill>
          <a:ln w="12700">
            <a:solidFill>
              <a:srgbClr val="0F5D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60152" y="135331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5F6B76"/>
                </a:solidFill>
              </a:rPr>
              <a:t>CARD 31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10360152" y="1554480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26.3%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360152" y="1911096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F6B76"/>
                </a:solidFill>
              </a:rPr>
              <a:t>21 / 80 | £11.55/click</a:t>
            </a:r>
            <a:endParaRPr lang="en-US" sz="8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502920" y="2523744"/>
          <a:ext cx="50749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5806440" y="2523744"/>
            <a:ext cx="5879592" cy="1417320"/>
          </a:xfrm>
          <a:prstGeom prst="roundRect">
            <a:avLst>
              <a:gd name="adj" fmla="val 3226"/>
            </a:avLst>
          </a:prstGeom>
          <a:solidFill>
            <a:srgbClr val="D9EAF2"/>
          </a:solidFill>
          <a:ln w="7620">
            <a:solidFill>
              <a:srgbClr val="D5DEE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52744" y="2633472"/>
            <a:ext cx="5586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5D75"/>
                </a:solidFill>
              </a:rPr>
              <a:t>Same-application click behaviour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952744" y="2871216"/>
            <a:ext cx="558698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F2937"/>
                </a:solidFill>
              </a:rPr>
              <a:t>Card 29 vs Card 30 (n=1,251): 266 clicks (21.3%) vs 112 (9.0%) → 2.38×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F2937"/>
                </a:solidFill>
              </a:rPr>
              <a:t>Card 29 vs Card 31 (n=1,278): 274 clicks (21.4%) vs 57 (4.5%) → 4.81×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F2937"/>
                </a:solidFill>
              </a:rPr>
              <a:t>Card 29 had the lower APR in 100% of both pairwise comparisons.</a:t>
            </a:r>
            <a:endParaRPr lang="en-US" sz="870" dirty="0"/>
          </a:p>
        </p:txBody>
      </p:sp>
      <p:sp>
        <p:nvSpPr>
          <p:cNvPr id="33" name="Shape 30"/>
          <p:cNvSpPr/>
          <p:nvPr/>
        </p:nvSpPr>
        <p:spPr>
          <a:xfrm>
            <a:off x="5806440" y="4096512"/>
            <a:ext cx="5879592" cy="1481328"/>
          </a:xfrm>
          <a:prstGeom prst="roundRect">
            <a:avLst>
              <a:gd name="adj" fmla="val 3086"/>
            </a:avLst>
          </a:prstGeom>
          <a:solidFill>
            <a:srgbClr val="FFF2CC"/>
          </a:solidFill>
          <a:ln w="7620">
            <a:solidFill>
              <a:srgbClr val="D5DEE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52744" y="4206240"/>
            <a:ext cx="5586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5A00"/>
                </a:solidFill>
              </a:rPr>
              <a:t>What this means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952744" y="4443984"/>
            <a:ext cx="5586984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F2937"/>
                </a:solidFill>
              </a:rPr>
              <a:t>Card 29 attracts a disproportionate share of clicks when strong alternatives are present, but those clicks monetise weakly downstream. This makes it the strongest intervention candidate — not proof that every Card 29 click would transfer if the card disappeared.</a:t>
            </a:r>
            <a:endParaRPr lang="en-US" sz="870" dirty="0"/>
          </a:p>
        </p:txBody>
      </p:sp>
      <p:sp>
        <p:nvSpPr>
          <p:cNvPr id="36" name="Shape 33"/>
          <p:cNvSpPr/>
          <p:nvPr/>
        </p:nvSpPr>
        <p:spPr>
          <a:xfrm>
            <a:off x="502920" y="5779008"/>
            <a:ext cx="11183112" cy="530352"/>
          </a:xfrm>
          <a:prstGeom prst="roundRect">
            <a:avLst/>
          </a:prstGeom>
          <a:solidFill>
            <a:srgbClr val="E8F5E9"/>
          </a:solidFill>
          <a:ln w="10160">
            <a:solidFill>
              <a:srgbClr val="BFD8C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5800" y="5925312"/>
            <a:ext cx="10826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E7D32"/>
                </a:solidFill>
              </a:rPr>
              <a:t>Observed diagnosis: intervene on Card 29 conditionally, not panel-wide.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502920" y="6345936"/>
            <a:ext cx="11155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B76"/>
                </a:solidFill>
              </a:rPr>
              <a:t>Source: Excel workings — 2. Panel Baseline, 3. Card Performance, 4. Card29 Context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1645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5D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Conditional suppression is promising, but break-even depends on two unobserved behaviours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 Card 29 when it is the only offer; model and test redistribution only for the 315 clickers who had at least one alternative.</a:t>
            </a:r>
            <a:endParaRPr lang="en-US" sz="10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2011680" cy="850392"/>
          </a:xfrm>
          <a:prstGeom prst="roundRect">
            <a:avLst>
              <a:gd name="adj" fmla="val 6452"/>
            </a:avLst>
          </a:prstGeom>
          <a:solidFill>
            <a:srgbClr val="FFF2CC"/>
          </a:solidFill>
          <a:ln w="10160">
            <a:solidFill>
              <a:srgbClr val="D5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25296"/>
            <a:ext cx="54864" cy="850392"/>
          </a:xfrm>
          <a:prstGeom prst="rect">
            <a:avLst/>
          </a:prstGeom>
          <a:solidFill>
            <a:srgbClr val="C79618"/>
          </a:solidFill>
          <a:ln w="12700">
            <a:solidFill>
              <a:srgbClr val="C796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3502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5F6B76"/>
                </a:solidFill>
              </a:rPr>
              <a:t>CARD 29 CLICKERS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667512" y="15361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398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7512" y="17830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F6B76"/>
                </a:solidFill>
              </a:rPr>
              <a:t>starting population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87752" y="14538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6B76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26080" y="1225296"/>
            <a:ext cx="1975104" cy="850392"/>
          </a:xfrm>
          <a:prstGeom prst="roundRect">
            <a:avLst>
              <a:gd name="adj" fmla="val 6452"/>
            </a:avLst>
          </a:prstGeom>
          <a:solidFill>
            <a:srgbClr val="D9EAF2"/>
          </a:solidFill>
          <a:ln w="10160">
            <a:solidFill>
              <a:srgbClr val="D5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1225296"/>
            <a:ext cx="54864" cy="850392"/>
          </a:xfrm>
          <a:prstGeom prst="rect">
            <a:avLst/>
          </a:prstGeom>
          <a:solidFill>
            <a:srgbClr val="0F5D75"/>
          </a:solidFill>
          <a:ln w="12700">
            <a:solidFill>
              <a:srgbClr val="0F5D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133502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5F6B76"/>
                </a:solidFill>
              </a:rPr>
              <a:t>RETAIN AS SOLE OFFER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3090672" y="153619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83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90672" y="178308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F6B76"/>
                </a:solidFill>
              </a:rPr>
              <a:t>20.9% | no alternative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138928" y="1225296"/>
            <a:ext cx="1975104" cy="850392"/>
          </a:xfrm>
          <a:prstGeom prst="roundRect">
            <a:avLst>
              <a:gd name="adj" fmla="val 6452"/>
            </a:avLst>
          </a:prstGeom>
          <a:solidFill>
            <a:srgbClr val="E8F5E9"/>
          </a:solidFill>
          <a:ln w="10160">
            <a:solidFill>
              <a:srgbClr val="D5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38928" y="1225296"/>
            <a:ext cx="54864" cy="8503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33502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5F6B76"/>
                </a:solidFill>
              </a:rPr>
              <a:t>SUPPRESS / TEST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303520" y="153619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315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03520" y="178308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F6B76"/>
                </a:solidFill>
              </a:rPr>
              <a:t>79.1% | ≥1 alternative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187184" y="14538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6B76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534656" y="1225296"/>
            <a:ext cx="1993392" cy="850392"/>
          </a:xfrm>
          <a:prstGeom prst="roundRect">
            <a:avLst>
              <a:gd name="adj" fmla="val 6452"/>
            </a:avLst>
          </a:prstGeom>
          <a:solidFill>
            <a:srgbClr val="E8F5E9"/>
          </a:solidFill>
          <a:ln w="10160">
            <a:solidFill>
              <a:srgbClr val="D5DE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34656" y="1225296"/>
            <a:ext cx="54864" cy="8503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99248" y="1335024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5F6B76"/>
                </a:solidFill>
              </a:rPr>
              <a:t>EMPIRICALLY SUPPORTED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7699248" y="153619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282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699248" y="178308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F6B76"/>
                </a:solidFill>
              </a:rPr>
              <a:t>89.5% of affected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765792" y="1225296"/>
            <a:ext cx="1920240" cy="850392"/>
          </a:xfrm>
          <a:prstGeom prst="roundRect">
            <a:avLst>
              <a:gd name="adj" fmla="val 6452"/>
            </a:avLst>
          </a:prstGeom>
          <a:solidFill>
            <a:srgbClr val="FFF2CC"/>
          </a:solidFill>
          <a:ln w="10160">
            <a:solidFill>
              <a:srgbClr val="D5DE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65792" y="1225296"/>
            <a:ext cx="54864" cy="850392"/>
          </a:xfrm>
          <a:prstGeom prst="rect">
            <a:avLst/>
          </a:prstGeom>
          <a:solidFill>
            <a:srgbClr val="C79618"/>
          </a:solidFill>
          <a:ln w="12700">
            <a:solidFill>
              <a:srgbClr val="C796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30384" y="133502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5F6B76"/>
                </a:solidFill>
              </a:rPr>
              <a:t>RESIDUAL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9930384" y="15361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33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930384" y="1783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F6B76"/>
                </a:solidFill>
              </a:rPr>
              <a:t>sensitivity only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" y="2331720"/>
            <a:ext cx="3749040" cy="1316736"/>
          </a:xfrm>
          <a:prstGeom prst="roundRect">
            <a:avLst>
              <a:gd name="adj" fmla="val 3472"/>
            </a:avLst>
          </a:prstGeom>
          <a:solidFill>
            <a:srgbClr val="E8F5E9"/>
          </a:solidFill>
          <a:ln w="7620">
            <a:solidFill>
              <a:srgbClr val="D5DE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" y="244144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Supported 282 point estimate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9224" y="2679192"/>
            <a:ext cx="3456432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F2937"/>
                </a:solidFill>
              </a:rPr>
              <a:t>160.97 replacement clicks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F2937"/>
                </a:solidFill>
              </a:rPr>
              <a:t>51.45 expected sales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F2937"/>
                </a:solidFill>
              </a:rPr>
              <a:t>£2,143.64 expected replacement revenue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502920" y="3822192"/>
            <a:ext cx="3749040" cy="1353312"/>
          </a:xfrm>
          <a:prstGeom prst="roundRect">
            <a:avLst>
              <a:gd name="adj" fmla="val 3378"/>
            </a:avLst>
          </a:prstGeom>
          <a:solidFill>
            <a:srgbClr val="D9EAF2"/>
          </a:solidFill>
          <a:ln w="7620">
            <a:solidFill>
              <a:srgbClr val="D5DE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" y="3931920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5D75"/>
                </a:solidFill>
              </a:rPr>
              <a:t>Why this is more defensible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9224" y="4169664"/>
            <a:ext cx="345643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F2937"/>
                </a:solidFill>
              </a:rPr>
              <a:t>Post-suppression rank-1 states are matched to historical Card-29-absent behaviour. Rank 1 captured 95.6% of historical clicks. The 33 sparse states are excluded from the point estimate rather than forced into a deterministic next-card assumption.</a:t>
            </a:r>
            <a:endParaRPr lang="en-US" sz="87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4526280" y="2331720"/>
          <a:ext cx="7159752" cy="2907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502920" y="5413248"/>
            <a:ext cx="11183112" cy="786384"/>
          </a:xfrm>
          <a:prstGeom prst="roundRect">
            <a:avLst/>
          </a:prstGeom>
          <a:solidFill>
            <a:srgbClr val="FFF2CC"/>
          </a:solidFill>
          <a:ln w="10160">
            <a:solidFill>
              <a:srgbClr val="E6D49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5800" y="5596128"/>
            <a:ext cx="10808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7A5A00"/>
                </a:solidFill>
              </a:rPr>
              <a:t>Break-even reading: </a:t>
            </a:r>
            <a:pPr indent="0" marL="0">
              <a:buNone/>
            </a:pPr>
            <a:r>
              <a:rPr lang="en-US" sz="910" dirty="0">
                <a:solidFill>
                  <a:srgbClr val="1F2937"/>
                </a:solidFill>
              </a:rPr>
              <a:t>≤5 retained sales → even 100% residual transfer is insufficient.  ≥6 → break-even becomes achievable.  ~13 retained sales → only ~14.2% residual transfer needed.  ≥15 → supported 282 alone are above break-even.</a:t>
            </a:r>
            <a:endParaRPr lang="en-US" sz="910" dirty="0"/>
          </a:p>
        </p:txBody>
      </p:sp>
      <p:sp>
        <p:nvSpPr>
          <p:cNvPr id="40" name="Shape 37"/>
          <p:cNvSpPr/>
          <p:nvPr/>
        </p:nvSpPr>
        <p:spPr>
          <a:xfrm>
            <a:off x="502920" y="6254496"/>
            <a:ext cx="11183112" cy="329184"/>
          </a:xfrm>
          <a:prstGeom prst="roundRect">
            <a:avLst/>
          </a:prstGeom>
          <a:solidFill>
            <a:srgbClr val="E8F5E9"/>
          </a:solidFill>
          <a:ln w="10160">
            <a:solidFill>
              <a:srgbClr val="BFD8C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76656" y="6345936"/>
            <a:ext cx="10835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E7D32"/>
                </a:solidFill>
              </a:rPr>
              <a:t>Recommendation: run a controlled conditional suppression/deprioritisation test. Primary KPI: revenue per application (baseline £5.72).</a:t>
            </a:r>
            <a:endParaRPr lang="en-US" sz="880" dirty="0"/>
          </a:p>
        </p:txBody>
      </p:sp>
      <p:sp>
        <p:nvSpPr>
          <p:cNvPr id="42" name="Text 39"/>
          <p:cNvSpPr/>
          <p:nvPr/>
        </p:nvSpPr>
        <p:spPr>
          <a:xfrm>
            <a:off x="9582912" y="5266944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F6B76"/>
                </a:solidFill>
              </a:rPr>
              <a:t>Source: Excel workings — sheets 5–7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1645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Ocean Finance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Panel Performance Review</dc:title>
  <dc:subject>Credit Card Panel Performance Review</dc:subject>
  <dc:creator>OpenAI</dc:creator>
  <cp:lastModifiedBy>OpenAI</cp:lastModifiedBy>
  <cp:revision>1</cp:revision>
  <dcterms:created xsi:type="dcterms:W3CDTF">2026-09-08T10:18:19Z</dcterms:created>
  <dcterms:modified xsi:type="dcterms:W3CDTF">2026-09-08T10:18:19Z</dcterms:modified>
</cp:coreProperties>
</file>